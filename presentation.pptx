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Học viện Công nghệ Bưu chính Viễn thông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B8DA"/>
                </a:solidFill>
                <a:latin typeface="Arial"/>
              </a:rPr>
              <a:t>INT1461 — Xây dựng các hệ thống nhúng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62456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F0EDE8"/>
                </a:solidFill>
                <a:latin typeface="Georgia"/>
              </a:rPr>
              <a:t>Hệ thống Xe Robot
Tự hành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946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  <a:latin typeface="Arial"/>
              </a:rPr>
              <a:t>Khám phá bản đồ • Điều hướng tự động • Theo dõi người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44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Arial"/>
              </a:rPr>
              <a:t>Giảng viên hướng dẫn: Nguyễn Trọng Huân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Thành viên nhóm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DE8"/>
                </a:solidFill>
                <a:latin typeface="Arial"/>
              </a:rPr>
              <a:t>Nguyễn Ngọc Phú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Arial"/>
              </a:rPr>
              <a:t>N22DCCN159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DE8"/>
                </a:solidFill>
                <a:latin typeface="Arial"/>
              </a:rPr>
              <a:t>Ngô Tấn Sang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828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Arial"/>
              </a:rPr>
              <a:t>N22DCCN167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DE8"/>
                </a:solidFill>
                <a:latin typeface="Arial"/>
              </a:rPr>
              <a:t>Văn Minh Tấn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Arial"/>
              </a:rPr>
              <a:t>N22DCCN175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DE8"/>
                </a:solidFill>
                <a:latin typeface="Arial"/>
              </a:rPr>
              <a:t>Vũ Tiến Đạt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560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Arial"/>
              </a:rPr>
              <a:t>N22DCCN120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DE8"/>
                </a:solidFill>
                <a:latin typeface="Arial"/>
              </a:rPr>
              <a:t>Huỳnh Phát Tài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Arial"/>
              </a:rPr>
              <a:t>N22DCCN171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383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TP.HCM, tháng 06 /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SLAM Tracking 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Arial"/>
              </a:rPr>
              <a:t>Báo cáo đồ 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Tổng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02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6E"/>
                </a:solidFill>
                <a:latin typeface="Arial"/>
              </a:rPr>
              <a:t>Kiến trúc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Georgia"/>
              </a:rPr>
              <a:t>Ba chế độ hoạt động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5117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Georgia"/>
              </a:rPr>
              <a:t>Khám phá bản đồ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08376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5C5C"/>
                </a:solidFill>
                <a:latin typeface="Arial"/>
              </a:rPr>
              <a:t>SLAM Toolbox xây dựng bản đồ từ LiDAR + explore_lite tự động di chuyển đến vùng chưa khám phá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025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5117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Georgia"/>
              </a:rPr>
              <a:t>Điều hướng tự động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008376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5C5C"/>
                </a:solidFill>
                <a:latin typeface="Arial"/>
              </a:rPr>
              <a:t>Nav2 Stack: AMCL định vị + NavFn lập đường đi + DWB điều khiển bám đường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0025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5117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Georgia"/>
              </a:rPr>
              <a:t>Theo dõi người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008376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5C5C"/>
                </a:solidFill>
                <a:latin typeface="Arial"/>
              </a:rPr>
              <a:t>YOLOv8n + InsightFace nhận dạng, Camera-LiDAR fusion định vị, PID 3 tầng điều khiển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98264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LiDAR LDS02RR → SLAM Toolbox → Nav2 Stack → Motor Driver    |    ESP32-CAM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rial"/>
              </a:rPr>
              <a:t>Nguồn: Tài liệu thiết kế hệ thống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5C5C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Phần cứng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B8DA"/>
                </a:solidFill>
                <a:latin typeface="Arial"/>
              </a:rPr>
              <a:t>Thiết kế phần cứng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0EDE8"/>
                </a:solidFill>
                <a:latin typeface="Georgia"/>
              </a:rPr>
              <a:t>Kiến trúc khối hệ thống</a:t>
            </a:r>
          </a:p>
        </p:txBody>
      </p:sp>
      <p:pic>
        <p:nvPicPr>
          <p:cNvPr id="7" name="Picture 6" descr="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02536"/>
            <a:ext cx="41148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51575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Arial"/>
              </a:rPr>
              <a:t>Mô hình xe robot thực tế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0025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B8DA"/>
                </a:solidFill>
                <a:latin typeface="Arial"/>
              </a:rPr>
              <a:t>Khối Cảm biến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22576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DE8"/>
                </a:solidFill>
                <a:latin typeface="Arial"/>
              </a:rPr>
              <a:t>• LiDAR LDS02RR — UART 360°
• MPU6050 IMU — I2C 6-DoF
• Encoder × 2 — Interrupt
• ESP32-CAM — HTTP MJPEG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0025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B8DA"/>
                </a:solidFill>
                <a:latin typeface="Arial"/>
              </a:rPr>
              <a:t>Khối Xử lý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322576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DE8"/>
                </a:solidFill>
                <a:latin typeface="Arial"/>
              </a:rPr>
              <a:t>• ESP32 Main — micro-ROS
• ESP32-CAM — Streamer
• WiFi UDP →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313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B8DA"/>
                </a:solidFill>
                <a:latin typeface="Arial"/>
              </a:rPr>
              <a:t>Khối Chấp hành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151376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DE8"/>
                </a:solidFill>
                <a:latin typeface="Arial"/>
              </a:rPr>
              <a:t>• TB6612 — PWM 2 kênh
• 2× Servo SG90 — Pan/Tilt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8313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B8DA"/>
                </a:solidFill>
                <a:latin typeface="Arial"/>
              </a:rPr>
              <a:t>Khối Nguồn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151376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DE8"/>
                </a:solidFill>
                <a:latin typeface="Arial"/>
              </a:rPr>
              <a:t>• 3 cặp Li-ion 18650
• 2× Buck LM2596
• Pin trực tiếp → Motor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75157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Tổng chi phí phần cứng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75157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F0EDE8"/>
                </a:solidFill>
                <a:latin typeface="Georgia"/>
              </a:rPr>
              <a:t>~1.200.000 VNĐ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Thiết kế module hóa — dễ khắc phục sự cố và nâng cấp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Firmware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04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6E"/>
                </a:solidFill>
                <a:latin typeface="Arial"/>
              </a:rPr>
              <a:t>PlatformIO + micro-ROS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Georgia"/>
              </a:rPr>
              <a:t>Firmware module hóa trên ESP32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ESP32 Main — micro-ROS Node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459736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2004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Publish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Subscribe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motors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/cmd_vel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encoders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/odom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imu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/imu/data_raw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lidar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/scan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servos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/joint_states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/servo_cmd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Watchdog: dừng motor khi mất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ros_bridge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Interface chung các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2002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ESP32-CAM — Video Streamer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5973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5C5C"/>
                </a:solidFill>
                <a:latin typeface="Arial"/>
              </a:rPr>
              <a:t>Phát luồng MJPEG qua HTTP :80
Không phải micro-ROS node
cam_bridge_node kéo dữ liệu về 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48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Cơ chế an toàn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14216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rial"/>
              </a:rPr>
              <a:t>• Watchdog timer — dừng motor khi mất kết nối
• PID anti-windup trên 2 kênh motor
• WiFi reconnect tự động
• Cấu hình .env: WiFi, IP agent, GPIO pins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rial"/>
              </a:rPr>
              <a:t>Mỗi ngoại vi có file source riêng — giao tiếp qua ros_bridge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5C5C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Khám phá bản đồ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05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6E"/>
                </a:solidFill>
                <a:latin typeface="Arial"/>
              </a:rPr>
              <a:t>SLAM Toolbox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Georgia"/>
              </a:rPr>
              <a:t>So khớp quét tương quan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5C5C"/>
                </a:solidFill>
                <a:latin typeface="Arial"/>
              </a:rPr>
              <a:t>Ước lượng phép biến đổi giữa 2 bản quét LiDAR liên tiếp bằng phương pháp correlative scan matching kết hợp tối ưu phi tuyến Ceres Solver.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9981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1A1A1A"/>
                </a:solidFill>
                <a:latin typeface="Times New Roman"/>
              </a:rPr>
              <a:t>E(T) = Σᵢ [1 − M(T · pᵢ)]²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48456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• T — phép biến đổi cần tìm (dx, dy, dθ)
• pᵢ — điểm thứ i trong bản quét hiện tại
• M(x) — xác suất tại vị trí x trên bản đồ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02536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rial"/>
              </a:rPr>
              <a:t>Bước 1: Xây dựng bản đồ xác suất
     ↓
Bước 2: Quét thô (bước 5cm, 2°)
  Tìm T cho tổng xác suất cao nhất
     ↓
Bước 3: Tối ưu tinh — Levenberg-Marquardt
  Hội tụ đến vị trí chính xác sub-pixel
     ↓
  → Phép biến đổi T tối ưu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rial"/>
              </a:rPr>
              <a:t>Thuật toán: SPARSE_NORMAL_CHOLESKY + SCHUR_JACOBI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5C5C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Khám phá bản đồ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06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6E"/>
                </a:solidFill>
                <a:latin typeface="Arial"/>
              </a:rPr>
              <a:t>Đóng vòng lặp &amp; Bản đồ lưới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Georgia"/>
              </a:rPr>
              <a:t>Loop Closure + Occupancy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Georgia"/>
              </a:rPr>
              <a:t>Phát hiện vòng lặp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9736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5C5C"/>
                </a:solidFill>
                <a:latin typeface="Arial"/>
              </a:rPr>
              <a:t>Khi robot quay lại vùng đã khám phá, thuật toán phát hiện trùng lặp và hiệu chỉnh sai số tích lũy qua tối ưu toàn cục đồ thị tư thế.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374136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65760">
                <a:tc>
                  <a:txBody>
                    <a:bodyPr/>
                    <a:lstStyle/>
                    <a:p>
                      <a:r>
                        <a:t>Tham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Giá trị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Chuỗi scan tối thiểu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Ngưỡng matching thô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0.35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Ngưỡng matching tinh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0.45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Variance tối đa (thô)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3.0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92240" y="2002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Georgia"/>
              </a:rPr>
              <a:t>Bản đồ Occupancy 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59736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5C5C"/>
                </a:solidFill>
                <a:latin typeface="Arial"/>
              </a:rPr>
              <a:t>Trắng = Trống (0)
Đen = Vật cản (100)
Xám = Chưa biết (−1)
Xanh = Robot
Độ phân giải: 0.05m/pixel
Cập nhật mỗi 5 giây. Mỗi ô chứa xác suất chiếm đóng từ 0 (trống) đến 100 (vật cản).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rial"/>
              </a:rPr>
              <a:t>Cấu hình: map_update_interval = 5.0s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5C5C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Khám phá bản đồ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07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6E"/>
                </a:solidFill>
                <a:latin typeface="Arial"/>
              </a:rPr>
              <a:t>explore_lite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Georgia"/>
              </a:rPr>
              <a:t>Khám phá dựa trên biên giới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5C5C"/>
                </a:solidFill>
                <a:latin typeface="Arial"/>
              </a:rPr>
              <a:t>Robot tự động tìm và di chuyển đến các biên giới — ranh giới giữa vùng đã biết và chưa biết — để khám phá toàn bộ môi trường.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169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A1A1A"/>
                </a:solidFill>
                <a:latin typeface="Times New Roman"/>
              </a:rPr>
              <a:t>score(f) = α × size(f) − β × cost(f) − γ × turn(f)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465576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65760">
                <a:tc>
                  <a:txBody>
                    <a:bodyPr/>
                    <a:lstStyle/>
                    <a:p>
                      <a:r>
                        <a:t>Trọng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Giá trị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Ý nghĩa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α (gain_scale)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Ưu tiên biên giới lớn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β (potential_scale)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Ưu tiên biên giới gần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γ (orientation_scale)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Bỏ qua góc quay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92240" y="2002536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Quét bản đồ hiện tại
     ↓
Tìm tất cả biên giới (BFS)
     ↓
Chấm điểm và chọn biên giới tốt nhất
     ↓
Gửi mục tiêu đến Nav2
↻ Lặp mỗi 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rial"/>
              </a:rPr>
              <a:t>Điều kiện dừng: không còn biên giới ≥ 0.35m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5C5C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Khám phá bản đồ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08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B8DA"/>
                </a:solidFill>
                <a:latin typeface="Arial"/>
              </a:rPr>
              <a:t>Luồng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0EDE8"/>
                </a:solidFill>
                <a:latin typeface="Georgia"/>
              </a:rPr>
              <a:t>Phối hợp SLAM Toolbox &amp; explore_lite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74136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0EDE8"/>
                </a:solidFill>
                <a:latin typeface="Arial"/>
              </a:rPr>
              <a:t>LiDAR → /scan → SLAM Toolbox → /map → explore_lite → goal → Nav2 Stack → /cmd_vel → 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88536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  <a:latin typeface="Arial"/>
              </a:rPr>
              <a:t>Robot di chuyển → LiDAR quét vùng mới → vòng lặp tiếp tục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Vòng lặp khám phá tự động hoàn toàn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Điều hướng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09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6E"/>
                </a:solidFill>
                <a:latin typeface="Arial"/>
              </a:rPr>
              <a:t>Nav2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Georgia"/>
              </a:rPr>
              <a:t>Kiến trúc phân tầng điều hướng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0253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BT Navigator (Điều phối tổng thể)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002536"/>
            <a:ext cx="4114800" cy="457200"/>
          </a:xfrm>
          <a:prstGeom prst="roundRect">
            <a:avLst/>
          </a:prstGeom>
          <a:solidFill>
            <a:srgbClr val="2C4A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Planner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369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rial"/>
              </a:rPr>
              <a:t>Lập đường đi toàn cục (A*)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Controller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2369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rial"/>
              </a:rPr>
              <a:t>Bám đường cục bộ (DWB)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8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Behavior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8" y="32369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rial"/>
              </a:rPr>
              <a:t>Phục hồi khi kẹt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313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rial"/>
              </a:rPr>
              <a:t>Global Costmap (Static + Obstacle + Inflation)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8313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rial"/>
              </a:rPr>
              <a:t>Local Costmap (Rolling window)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38313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rial"/>
              </a:rPr>
              <a:t>Spin / Backup / Wait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28616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C5C5C"/>
                </a:solidFill>
                <a:latin typeface="Arial"/>
              </a:rPr>
              <a:t>Thứ tự kích hoạt Lifecycle: map_server → amcl → controller → planner → bt_navigator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rial"/>
              </a:rPr>
              <a:t>Quản lý bởi MapManagerNode (ROS2 Lifecycle)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5C5C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Điều hướng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6E"/>
                </a:solidFill>
                <a:latin typeface="Arial"/>
              </a:rPr>
              <a:t>Định vị trên bản đồ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Georgia"/>
              </a:rPr>
              <a:t>AMCL — Bộ lọc hạt thích nghi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5C5C"/>
                </a:solidFill>
                <a:latin typeface="Arial"/>
              </a:rPr>
              <a:t>Sử dụng 500–2000 hạt (particles) để ước lượng vị trí robot. Số lượng hạt tự điều chỉnh dựa trên KL-divergence.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2549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4A6E"/>
                </a:solidFill>
                <a:latin typeface="Arial"/>
              </a:rPr>
              <a:t>1. Khởi tạo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81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rial"/>
              </a:rPr>
              <a:t>N hạt phân bố Gaussian quanh vị trí ban đầu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6557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4A6E"/>
                </a:solidFill>
                <a:latin typeface="Arial"/>
              </a:rPr>
              <a:t>2. Dự đoán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216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rial"/>
              </a:rPr>
              <a:t>Di chuyển hạt theo odometry + nhiễu (α₁–α₅ = 0.2)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0565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4A6E"/>
                </a:solidFill>
                <a:latin typeface="Arial"/>
              </a:rPr>
              <a:t>3. Cập nhật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616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rial"/>
              </a:rPr>
              <a:t>Tính trọng số bằng likelihood field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45735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4A6E"/>
                </a:solidFill>
                <a:latin typeface="Arial"/>
              </a:rPr>
              <a:t>4. Lấy mẫu lại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01767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Arial"/>
              </a:rPr>
              <a:t>Loại hạt trọng số thấp, nhân bản hạt trọng số cao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92240" y="3831336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r>
                        <a:t>Tham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Giá trị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Số hạt tối thiểu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Số hạt tối đa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Mô hình cảm biến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Likelihood field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Số tia laser sử dụng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 / 360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rial"/>
              </a:rPr>
              <a:t>Mô hình: nav2_amcl::DifferentialMotionModel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5C5C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Điều hướng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6E"/>
                </a:solidFill>
                <a:latin typeface="Arial"/>
              </a:rPr>
              <a:t>Lập đường đi &amp; Bám đường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Georgia"/>
              </a:rPr>
              <a:t>NavFn (A*) + Dynamic Window (DWB)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Thuật toán A*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682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A1A1A"/>
                </a:solidFill>
                <a:latin typeface="Times New Roman"/>
              </a:rPr>
              <a:t>f(n) = g(n) + h(n)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25496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rial"/>
              </a:rPr>
              <a:t>• g(n) — chi phí thực từ start đến n
• h(n) — heuristic Euclidean đến goal
• Dung sai goal: 0.5m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313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Costmap Inflation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970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A1A1A"/>
                </a:solidFill>
                <a:latin typeface="Times New Roman"/>
              </a:rPr>
              <a:t>cost(d) = 253 × e^(−10 × (d − 0.12))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542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5C5C"/>
                </a:solidFill>
                <a:latin typeface="Arial"/>
              </a:rPr>
              <a:t>Vùng đệm 45cm quanh vật cản, bán kính robot 12cm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025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Dynamic Window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682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5C5C"/>
                </a:solidFill>
                <a:latin typeface="Arial"/>
              </a:rPr>
              <a:t>Mô phỏng 1600 quỹ đạo (40×40 mẫu) trong 1.2 giây, chấm điểm bằng 7 critics.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92240" y="3099816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26571">
                <a:tc>
                  <a:txBody>
                    <a:bodyPr/>
                    <a:lstStyle/>
                    <a:p>
                      <a:r>
                        <a:t>Critic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Scale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RotateToGoal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32.0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PathAlign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20.0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PathDist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20.0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GoalAlign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GoalDist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r>
                        <a:t>BaseObstacle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92240" y="55686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Tốc độ tối đa: 0.3 m/s tịnh tiến, 1.0 rad/s quay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rial"/>
              </a:rPr>
              <a:t>Goal tolerance: xy=15cm, yaw=0.25rad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5C5C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Theo dõi người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B8DA"/>
                </a:solidFill>
                <a:latin typeface="Arial"/>
              </a:rPr>
              <a:t>Person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0EDE8"/>
                </a:solidFill>
                <a:latin typeface="Georgia"/>
              </a:rPr>
              <a:t>Kiến trúc 3 tầng theo dõi người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B8DA"/>
                </a:solidFill>
                <a:latin typeface="Arial"/>
              </a:rPr>
              <a:t>TẦNG 1: NHẬN DẠNG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68296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DE8"/>
                </a:solidFill>
                <a:latin typeface="Arial"/>
              </a:rPr>
              <a:t>ESP32-CAM (MJPEG stream)
LiDAR LDS02RR (360° scan)
→ Person Tracker
  YOLOv8n (body)
  InsightFace (face)
  Leg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0025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B8DA"/>
                </a:solidFill>
                <a:latin typeface="Arial"/>
              </a:rPr>
              <a:t>TẦNG 2: ĐỊNH VỊ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68296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DE8"/>
                </a:solidFill>
                <a:latin typeface="Arial"/>
              </a:rPr>
              <a:t>Sensor Fusion
  Camera bearing
  + LiDAR range
  → (range, bearing)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025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B8DA"/>
                </a:solidFill>
                <a:latin typeface="Arial"/>
              </a:rPr>
              <a:t>TẦNG 3: ĐIỀU KHIỂN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68296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DE8"/>
                </a:solidFill>
                <a:latin typeface="Arial"/>
              </a:rPr>
              <a:t>Tracking Controller
  Servo PID (50 Hz)
  Wheel Yaw PID (10 Hz)
  Linear PID (10 Hz)
  Safety Arc Check
→ /servo_cmd, /cmd_vel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029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Enrollment Node (SQLite database)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3 tầng: Nhận dạng → Định vị → Điều khiển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Theo dõi người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6E"/>
                </a:solidFill>
                <a:latin typeface="Arial"/>
              </a:rPr>
              <a:t>Phát hiện &amp; Nhận dạng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Georgia"/>
              </a:rPr>
              <a:t>YOLOv8n + InsightFace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Phát hiện cơ thể — YOLOv8n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68296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rial"/>
              </a:rPr>
              <a:t>• Mô hình one-stage, chỉ detect class "person"
• Ngưỡng confidence ≥ 0.5
• Bounding box chuẩn hóa [0, 1]
• Theo dõi liên tục qua IoU ≥ 0.3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484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Nhận dạng khuôn mặt — InsightFace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14216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rial"/>
              </a:rPr>
              <a:t>• Mô hình buffalo_l, vector 512 chiều
• Chuẩn hóa L2 + cosine similarity
• Ngưỡng nhận dạng: ≥ 0.6
• Confidence decay: 0.1/giây khi mất mặt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02536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rial"/>
              </a:rPr>
              <a:t>Ảnh từ ESP32-CAM
     ↓
YOLOv8n → Bounding box người
     ↓
Cắt vùng body → InsightFace detect
     ↓
Trích xuất embedding 512-d
     ↓
So khớp cosine ≥ 0.6 → Xác nhận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rial"/>
              </a:rPr>
              <a:t>Track bị xóa sau 1 giây không phát hiện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5C5C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Theo dõi người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6E"/>
                </a:solidFill>
                <a:latin typeface="Arial"/>
              </a:rPr>
              <a:t>Kết hợp cảm biến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Georgia"/>
              </a:rPr>
              <a:t>Camera-LiDAR Bearing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Vấn đề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68296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5C5C"/>
                </a:solidFill>
                <a:latin typeface="Arial"/>
              </a:rPr>
              <a:t>Camera cho biết hướng nhưng không biết khoảng cách. LiDAR biết khoảng cách nhưng không phân biệt người. Cần kết hợp 2 nguồn.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826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Tính bearing từ 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A1A1A"/>
                </a:solidFill>
                <a:latin typeface="Times New Roman"/>
              </a:rPr>
              <a:t>θ_cam = arctan((u − cₓ) / fₓ)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056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5C5C"/>
                </a:solidFill>
                <a:latin typeface="Arial"/>
              </a:rPr>
              <a:t>Chuyển đổi frame camera → laser qua TF2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628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Ghép cặp chân từ LiDAR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745736"/>
          <a:ext cx="53035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297180">
                <a:tc>
                  <a:txBody>
                    <a:bodyPr/>
                    <a:lstStyle/>
                    <a:p>
                      <a:r>
                        <a:t>Tham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Giá trị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Chiều rộng chân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5–30 cm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Khoảng cách 2 chân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15–35 cm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Bearing tolerance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 rad (~5.7°)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92240" y="3374136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Kết quả fusion:
• bearing: từ camera
• range: từ leg pair
Nếu Δθ &gt; 0.10 rad → không ghép,
trả range = NaN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rial"/>
              </a:rPr>
              <a:t>Nếu Δθ &gt; 0.10 rad → không ghép, trả range = 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5C5C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C5C5C"/>
                </a:solidFill>
                <a:latin typeface="Arial"/>
              </a:rPr>
              <a:t>Theo dõi người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6E"/>
                </a:solidFill>
                <a:latin typeface="Arial"/>
              </a:rPr>
              <a:t>Điều khiển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A"/>
                </a:solidFill>
                <a:latin typeface="Georgia"/>
              </a:rPr>
              <a:t>PID 3 tầng + Máy trạng thái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A1A1A"/>
                </a:solidFill>
                <a:latin typeface="Times New Roman"/>
              </a:rPr>
              <a:t>u(t) = Kp·e(t) + Ki·∫e(τ)dτ + Kd·de/dt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551176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42900">
                <a:tc>
                  <a:txBody>
                    <a:bodyPr/>
                    <a:lstStyle/>
                    <a:p>
                      <a:r>
                        <a:t>Tầng 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Tần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Mục đích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Servo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Giữ target giữa khung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Wheel Yaw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Quay body khi servo &gt; 30°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Giữ khoảng cách 1.0–1.5m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19709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rial"/>
              </a:rPr>
              <a:t>An toàn:
Cung quét ±20° phía trước, dừng nếu vật cản &lt; 30cm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025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eorgia"/>
              </a:rPr>
              <a:t>Máy trạng thái tìm kiếm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59736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rial"/>
              </a:rPr>
              <a:t>TRACKING
  ↓ (mất &gt; 0.5s)
SEARCH_CONTINUE (0.5s)
  ↓
SEARCH_SCAN (2.0s)
  ↓
SEARCH_ROTATE (5.0s)
  ↓
IDLE
← Target lại → quay về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Arial"/>
              </a:rPr>
              <a:t>Target xuất hiện lại → quay về TRACKING ngay lập tức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5C5C"/>
                </a:solidFill>
                <a:latin typeface="Arial"/>
              </a:rPr>
              <a:t>Nhóm 2 —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SLAM Tracking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228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16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B8DA"/>
                </a:solidFill>
                <a:latin typeface="Arial"/>
              </a:rPr>
              <a:t>Tổng kết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0EDE8"/>
                </a:solidFill>
                <a:latin typeface="Georgia"/>
              </a:rPr>
              <a:t>Bảng tổng hợp giải thuật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02536"/>
          <a:ext cx="1109441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029200"/>
                <a:gridCol w="2864815"/>
              </a:tblGrid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Chức năng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Thuật toán chính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Thư viện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Xây dựng bản đồ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Graph-based SLAM, Ceres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SLAM Toolbox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Khám phá tự động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Frontier-based Exploration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explore_lite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Định vị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Adaptive Monte Carlo Localization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Nav2 AMCL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Lập đường đi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A* trên costmap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Nav2 NavFn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Bám đường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Dynamic Window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Nav2 DWB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Phát hiện người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CNN one-stage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YOLOv8n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Nhận dạng mặt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ArcFace + Cosine 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InsightFace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Định vị người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Bearing fusion + Leg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Custom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Điều khiển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PID 3 tầng + FSM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0EDE8"/>
                          </a:solidFill>
                          <a:latin typeface="Arial"/>
                        </a:rPr>
                        <a:t>Custom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263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Nhóm 2 —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6263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Arial"/>
              </a:rPr>
              <a:t>Cảm ơn đã lắng nghe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